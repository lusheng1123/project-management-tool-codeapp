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Project Management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7D2FE"/>
                </a:solidFill>
              </a:defRPr>
            </a:pPr>
            <a:r>
              <a:t>Training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 sz="2200">
                <a:solidFill>
                  <a:srgbClr val="64748B"/>
                </a:solidFill>
              </a:defRPr>
            </a:pPr>
            <a:r>
              <a:t>Value Stream Driven | 17 Tabs | 8 Roles | Configurable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2/16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17 tabs covering the full delivery lifecycle</a:t>
            </a:r>
            <a:br/>
            <a:r>
              <a:t>• 8 roles with tab-level access control</a:t>
            </a:r>
            <a:br/>
            <a:r>
              <a:t>• 3 value streams with configurable workflows</a:t>
            </a:r>
            <a:br/>
            <a:r>
              <a:t>• Demand → Requirement → Project → Epic → Story →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Roles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3/16</a:t>
            </a:r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8 roles: Admin, VS PMO, VSO, PO, DL, BA, RM, ITSO</a:t>
            </a:r>
            <a:br/>
            <a:r>
              <a:t>• Tab visibility per role (Admin 17, VSO 12, RM 12)</a:t>
            </a:r>
            <a:br/>
            <a:r>
              <a:t>• Role selector in header for DEV testing</a:t>
            </a:r>
            <a:br/>
            <a:r>
              <a:t>• Dashboard action items filtered by role</a:t>
            </a:r>
            <a:br/>
            <a:r>
              <a:t>• Governance edit permissions gated by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4/16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Stats cards: Total Demands, Active, Risks, Signoffs, Releases</a:t>
            </a:r>
            <a:br/>
            <a:r>
              <a:t>• Action Items: demands needing your attention (role-filtered)</a:t>
            </a:r>
            <a:br/>
            <a:r>
              <a:t>• Product Overview: per-product demand/risk/dep counts</a:t>
            </a:r>
            <a:br/>
            <a:r>
              <a:t>• Releases Snapshot: status, items, signoff progress</a:t>
            </a:r>
            <a:br/>
            <a:r>
              <a:t>• Click any item → navigates to that tab with auto-expand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Portfolio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5/16</a:t>
            </a:r>
          </a:p>
        </p:txBody>
      </p:sp>
      <p:pic>
        <p:nvPicPr>
          <p:cNvPr id="5" name="Picture 4" descr="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Value stream grouped product cards</a:t>
            </a:r>
            <a:br/>
            <a:r>
              <a:t>• Per product: demand count &amp; status breakdown</a:t>
            </a:r>
            <a:br/>
            <a:r>
              <a:t>• Story Points: done/total with progress bar</a:t>
            </a:r>
            <a:br/>
            <a:r>
              <a:t>• Active sprints &amp; teams involved</a:t>
            </a:r>
            <a:br/>
            <a:r>
              <a:t>• Demand flow step count per VS</a:t>
            </a:r>
            <a:br/>
            <a:r>
              <a:t>• VSO-filtered (only assigned value streams)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Demand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6/16</a:t>
            </a:r>
          </a:p>
        </p:txBody>
      </p:sp>
      <p:pic>
        <p:nvPicPr>
          <p:cNvPr id="5" name="Picture 4" descr="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Submit demand against a Product (app)</a:t>
            </a:r>
            <a:br/>
            <a:r>
              <a:t>• Value Stream determines workflow steps</a:t>
            </a:r>
            <a:br/>
            <a:r>
              <a:t>• Change Status dropdown: all next steps from config</a:t>
            </a:r>
            <a:br/>
            <a:r>
              <a:t>• Approved = final step → opens 'Convert to Requirement'</a:t>
            </a:r>
            <a:br/>
            <a:r>
              <a:t>• Rejected always available</a:t>
            </a:r>
            <a:br/>
            <a:r>
              <a:t>• Fully configurable per value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Demand Workflow (Config)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7/16</a:t>
            </a:r>
          </a:p>
        </p:txBody>
      </p:sp>
      <p:pic>
        <p:nvPicPr>
          <p:cNvPr id="5" name="Picture 4" descr="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Customer Experience: 4-step (Submitted→Triaging→Approved)</a:t>
            </a:r>
            <a:br/>
            <a:r>
              <a:t>• Operational Efficiency: 5-step (+Assessed)</a:t>
            </a:r>
            <a:br/>
            <a:r>
              <a:t>• Risk &amp; Compliance: 6-step (+Assessed, +PSC Review)</a:t>
            </a:r>
            <a:br/>
            <a:r>
              <a:t>• Configured in demand_flow config</a:t>
            </a:r>
            <a:br/>
            <a:r>
              <a:t>• Add/remove steps without code changes</a:t>
            </a:r>
            <a:br/>
            <a:r>
              <a:t>• Status dropdown updates live when VS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Products &amp;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8/16</a:t>
            </a:r>
          </a:p>
        </p:txBody>
      </p:sp>
      <p:pic>
        <p:nvPicPr>
          <p:cNvPr id="5" name="Picture 4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Products assigned to Value Streams</a:t>
            </a:r>
            <a:br/>
            <a:r>
              <a:t>• Products linked to Capabilities</a:t>
            </a:r>
            <a:br/>
            <a:r>
              <a:t>• Projects have pipeline: Onboarding→Dev1→Dev2→Review→Live</a:t>
            </a:r>
            <a:br/>
            <a:r>
              <a:t>• Pipeline board for visual status management</a:t>
            </a:r>
            <a:br/>
            <a:r>
              <a:t>• Expandable rows showing child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Epics &amp;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9/16</a:t>
            </a:r>
          </a:p>
        </p:txBody>
      </p:sp>
      <p:pic>
        <p:nvPicPr>
          <p:cNvPr id="5" name="Picture 4" descr="e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Epics link to Projects with RAG status (G/A/R)</a:t>
            </a:r>
            <a:br/>
            <a:r>
              <a:t>• Stories under Epics with Story Points (1pt = 1 manday)</a:t>
            </a:r>
            <a:br/>
            <a:r>
              <a:t>• Effort tracking: estimated vs actual</a:t>
            </a:r>
            <a:br/>
            <a:r>
              <a:t>• Jira link field on Epics</a:t>
            </a:r>
            <a:br/>
            <a:r>
              <a:t>• Assignment of resources (teams) to epics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Sprint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10/16</a:t>
            </a:r>
          </a:p>
        </p:txBody>
      </p:sp>
      <p:pic>
        <p:nvPicPr>
          <p:cNvPr id="5" name="Picture 4" descr="s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Team × Product grid view</a:t>
            </a:r>
            <a:br/>
            <a:r>
              <a:t>• Sprint cards: name, status, stories, SP (done/total)</a:t>
            </a:r>
            <a:br/>
            <a:r>
              <a:t>• Teams derived from resource assignments → epics</a:t>
            </a:r>
            <a:br/>
            <a:r>
              <a:t>• Filter: show only active sprints (hide Released)</a:t>
            </a:r>
            <a:br/>
            <a:r>
              <a:t>• UAC: VSO sees assigned VS, BA sees demand products</a:t>
            </a:r>
            <a:br/>
            <a:r>
              <a:t>• Click card → navigates to Releases with auto-expand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Release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11/16</a:t>
            </a:r>
          </a:p>
        </p:txBody>
      </p:sp>
      <p:pic>
        <p:nvPicPr>
          <p:cNvPr id="5" name="Picture 4" descr="rele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Releases grouped by Epic (two-level expand)</a:t>
            </a:r>
            <a:br/>
            <a:r>
              <a:t>• Register User Stories into releases</a:t>
            </a:r>
            <a:br/>
            <a:r>
              <a:t>• Signoff workflow per story (Pending → Approved/Rejected)</a:t>
            </a:r>
            <a:br/>
            <a:r>
              <a:t>• Release lifecycle: Draft → Open → In Review → Released</a:t>
            </a:r>
            <a:br/>
            <a:r>
              <a:t>• Dashboard navigation: click releases to jump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Governance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12/16</a:t>
            </a:r>
          </a:p>
        </p:txBody>
      </p:sp>
      <p:pic>
        <p:nvPicPr>
          <p:cNvPr id="5" name="Picture 4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Per-project checklist across pipeline phases</a:t>
            </a:r>
            <a:br/>
            <a:r>
              <a:t>• Configurable phases per value stream</a:t>
            </a:r>
            <a:br/>
            <a:r>
              <a:t>  • CE: 7 phases (Engage→Analysis→...)</a:t>
            </a:r>
            <a:br/>
            <a:r>
              <a:t>  • Default: 5 phases | OE: 4 phases | R&amp;C: 6 phases</a:t>
            </a:r>
            <a:br/>
            <a:r>
              <a:t>• All items editable: auto-create checkpoint on edit</a:t>
            </a:r>
            <a:br/>
            <a:r>
              <a:t>• Status: To Do / In Progress / Done / N/A</a:t>
            </a:r>
            <a:br/>
            <a:r>
              <a:t>• Owner, plan/actual dates inline editable</a:t>
            </a:r>
            <a:br/>
            <a:r>
              <a:t>• Project filter + phase filter + search</a:t>
            </a:r>
            <a:br/>
            <a:r>
              <a:t>• Generate button to batch-create all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Risks &amp;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13/16</a:t>
            </a:r>
          </a:p>
        </p:txBody>
      </p:sp>
      <p:pic>
        <p:nvPicPr>
          <p:cNvPr id="5" name="Picture 4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Risks and Dependencies linked to Products</a:t>
            </a:r>
            <a:br/>
            <a:r>
              <a:t>• Optional Requirement link with cascading filter</a:t>
            </a:r>
            <a:br/>
            <a:r>
              <a:t>  (select product → requirements filter dynamically)</a:t>
            </a:r>
            <a:br/>
            <a:r>
              <a:t>• Product-based (not project-based)</a:t>
            </a:r>
            <a:br/>
            <a:r>
              <a:t>• Separate views with CRUD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14/16</a:t>
            </a:r>
          </a:p>
        </p:txBody>
      </p:sp>
      <p:pic>
        <p:nvPicPr>
          <p:cNvPr id="5" name="Picture 4" descr="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300">
                <a:solidFill>
                  <a:srgbClr val="0F172A"/>
                </a:solidFill>
              </a:defRPr>
            </a:pPr>
            <a:r>
              <a:t>• All dropdowns sourced from pm_config table</a:t>
            </a:r>
            <a:br/>
            <a:r>
              <a:t>• demand_flow: per-VS status progression</a:t>
            </a:r>
            <a:br/>
            <a:r>
              <a:t>• project_phase: per-VS pipeline phases</a:t>
            </a:r>
            <a:br/>
            <a:r>
              <a:t>• project_checklist: per-phase task definitions</a:t>
            </a:r>
            <a:br/>
            <a:r>
              <a:t>• user_role: role definitions</a:t>
            </a:r>
            <a:br/>
            <a:r>
              <a:t>• value_stream, team, department, etc.</a:t>
            </a:r>
            <a:br/>
            <a:r>
              <a:t>• Edit in-app via ⚙️ Config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400">
                <a:solidFill>
                  <a:srgbClr val="0F172A"/>
                </a:solidFill>
              </a:defRPr>
            </a:pPr>
            <a:r>
              <a:t>• Demand Workflow: demand_flow config in ⚙️ Config</a:t>
            </a:r>
            <a:br/>
            <a:r>
              <a:t>• Roles: 👤 Users tab, assign role + VS</a:t>
            </a:r>
            <a:br/>
            <a:r>
              <a:t>• Governance: ✅ Governance tab, auto-detect or explicit template</a:t>
            </a:r>
            <a:br/>
            <a:r>
              <a:t>• Sprint Board: 📋 Sprints, toggle 'Show completed'</a:t>
            </a:r>
            <a:br/>
            <a:r>
              <a:t>• Reset: 🔄 Reset button in header (clears localStorage)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7D2F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777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7D2FE"/>
                </a:solidFill>
              </a:defRPr>
            </a:pPr>
            <a:r>
              <a:t>16/16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400">
                <a:solidFill>
                  <a:srgbClr val="0F172A"/>
                </a:solidFill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Project Management Tool — Training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