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Management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>
                <a:solidFill>
                  <a:srgbClr val="64748B"/>
                </a:solidFill>
              </a:defRPr>
            </a:pPr>
            <a:r>
              <a:t>End-to-End Training Guide</a:t>
            </a:r>
            <a:br/>
            <a:br/>
            <a:r>
              <a:t>Value Stream Driven | 18 Tabs | 8 Roles</a:t>
            </a:r>
            <a:br/>
            <a:r>
              <a:t>Configurable Workflows | Role-Based Access</a:t>
            </a:r>
            <a:br/>
            <a:br/>
            <a:r>
              <a:t>📥 Demand → 📋 Requirement → 📁 Project → ⚡ Epic → 📝 Story → 🚀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1/34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the Project Management Tool?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0F172A"/>
                </a:solidFill>
              </a:defRPr>
            </a:pPr>
            <a:r>
              <a:t>A comprehensive platform for managing the full delivery lifecycle from demand intake through to production release.</a:t>
            </a:r>
            <a:br/>
            <a:br/>
            <a:r>
              <a:t>📥 Demand Intake — anyone can submit a demand against an application</a:t>
            </a:r>
            <a:br/>
            <a:r>
              <a:t>🔄 Configurable Workflow — each Value Stream defines its own approval process</a:t>
            </a:r>
            <a:br/>
            <a:r>
              <a:t>📁 Project Management — pipeline tracking with governance checkpoints</a:t>
            </a:r>
            <a:br/>
            <a:r>
              <a:t>⚡ Agile Delivery — Epics &amp; User Stories with story points</a:t>
            </a:r>
            <a:br/>
            <a:r>
              <a:t>🚀 Release Management — sprint tracking &amp; signoff workflow</a:t>
            </a:r>
            <a:br/>
            <a:r>
              <a:t>📊 Portfolio View — holistic view across all value streams</a:t>
            </a:r>
            <a:br/>
            <a:r>
              <a:t>👤 Role-Based Access — 8 roles with tailored dashboards</a:t>
            </a:r>
            <a:br/>
            <a:r>
              <a:t>📋 18 Tabs — each role sees only their relevant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2/34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How to Read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This training guide is organized by ROLE — find your role and review your responsibilities, tabs, and actionable items.</a:t>
            </a:r>
            <a:br/>
            <a:br/>
            <a:r>
              <a:t>👤 Who You Are → What You See → What You Can Do</a:t>
            </a:r>
            <a:br/>
            <a:br/>
            <a:r>
              <a:t>Slides 4-5: Role matrix &amp; dashboard actions</a:t>
            </a:r>
            <a:br/>
            <a:r>
              <a:t>Slides 6-13: Individual role deep-dives</a:t>
            </a:r>
            <a:br/>
            <a:r>
              <a:t>Slides 14+: Feature &amp; page walkthroughs</a:t>
            </a:r>
            <a:br/>
            <a:br/>
            <a:r>
              <a:t>💡 TIP: Use the role selector in the app header to switch between roles and see the tool from different perspectives.</a:t>
            </a:r>
            <a:br/>
            <a:r>
              <a:t>  (Header dropdown → selected role persists in localStorage)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3/34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Role Access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0F172A"/>
                </a:solidFill>
              </a:defRPr>
            </a:pPr>
            <a:r>
              <a:t>Tab/Feature            Adm VSPMO VSO  PO   DL   BA   RM  ITSO</a:t>
            </a:r>
            <a:br/>
            <a:r>
              <a:t>────────────────────────────────────────────────────</a:t>
            </a:r>
            <a:br/>
            <a:r>
              <a:t>📊 Dashboard           ✅   ✅   ✅  ✅   ✅   ✅  ✅   ✅</a:t>
            </a:r>
            <a:br/>
            <a:r>
              <a:t>📈 Portfolio           ✅   ✅   ✅  ✅   ✅   ✅  ✅   ✅</a:t>
            </a:r>
            <a:br/>
            <a:r>
              <a:t>📥 Demand              ✅   ✅   ✅  ✅   ✅   ✅   —    —</a:t>
            </a:r>
            <a:br/>
            <a:r>
              <a:t>🎯 Capabilities        ✅   ✅   ✅   —   ✅   ✅   —    —</a:t>
            </a:r>
            <a:br/>
            <a:r>
              <a:t>📦 Products            ✅   ✅   ✅  ✅   ✅   ✅  ✅   ✅</a:t>
            </a:r>
            <a:br/>
            <a:r>
              <a:t>📁 Projects            ✅   ✅   ✅  ✅   ✅   ✅  ✅   ✅</a:t>
            </a:r>
            <a:br/>
            <a:r>
              <a:t>📋 Requirements        ✅   ✅   ✅  ✅   ✅   ✅  ✅   ✅</a:t>
            </a:r>
            <a:br/>
            <a:r>
              <a:t>⚡ Epics                ✅   ✅   ✅  ✅   ✅   ✅  ✅   ✅</a:t>
            </a:r>
            <a:br/>
            <a:r>
              <a:t>📝 Stories             ✅   ✅   ✅  ✅   ✅   ✅  ✅   ✅</a:t>
            </a:r>
            <a:br/>
            <a:r>
              <a:t>⚠️ Risks                ✅   ✅   ✅  ✅   ✅   ✅  ✅   ✅</a:t>
            </a:r>
            <a:br/>
            <a:r>
              <a:t>🔗 Dependencies        ✅   ✅   ✅  ✅   ✅   ✅  ✅   ✅</a:t>
            </a:r>
            <a:br/>
            <a:r>
              <a:t>🚀 Releases            ✅   ✅   ✅  ✅   ✅   ✅  ✅   ✅</a:t>
            </a:r>
            <a:br/>
            <a:r>
              <a:t>📋 Sprint Board        ✅   ✅   ✅  ✅   ✅   ✅  ✅   ✅</a:t>
            </a:r>
            <a:br/>
            <a:r>
              <a:t>✅ Governance          ✅   ✅   ✅  ✅   ✅   ✅  ✅   ✅</a:t>
            </a:r>
            <a:br/>
            <a:r>
              <a:t>👥 Resources           ✅   ✅   ✅   —   ✅   ✅   —    —</a:t>
            </a:r>
            <a:br/>
            <a:r>
              <a:t>👤 Users               ✅    —    —   —   ✅    —   —    —</a:t>
            </a:r>
            <a:br/>
            <a:r>
              <a:t>🧪 Test                ✅    —    —   —    —    —   —    —</a:t>
            </a:r>
            <a:br/>
            <a:r>
              <a:t>⚙️ Config              ✅    —    —   —    —    —   —    —</a:t>
            </a:r>
            <a:br/>
            <a:r>
              <a:t>────────────────────────────────────────────────────</a:t>
            </a:r>
            <a:br/>
            <a:r>
              <a:t>Tab Count               18   15   14  13   16   14  12   12</a:t>
            </a:r>
            <a:br/>
            <a:br/>
            <a:r>
              <a:t>🔒 Lock/Unlock Project  ✅   ✅   ✅   —    —    —   —    —</a:t>
            </a:r>
            <a:br/>
            <a:r>
              <a:t>📦 Backlog (Unlink)     ✅   ✅   ✅   —    —    —   —  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4/34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Action Items by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What each role sees on their Dashboard Action Items panel:</a:t>
            </a:r>
            <a:br/>
            <a:br/>
            <a:r>
              <a:t>👑 Admin: All pending demands (Triage/Assess/Approve/Convert)</a:t>
            </a:r>
            <a:br/>
            <a:r>
              <a:t>  + Pending release signoffs + project completion stats</a:t>
            </a:r>
            <a:br/>
            <a:br/>
            <a:r>
              <a:t>🏢 Value Stream PMO: Demands to Approve + Pending Signoffs</a:t>
            </a:r>
            <a:br/>
            <a:r>
              <a:t>  (oversees all value streams, unfiltered views)</a:t>
            </a:r>
            <a:br/>
            <a:br/>
            <a:r>
              <a:t>🌊 Value Stream Owner: Demands to Approve + Pending Signoffs</a:t>
            </a:r>
            <a:br/>
            <a:r>
              <a:t>  (filtered to their assigned value streams)</a:t>
            </a:r>
            <a:br/>
            <a:br/>
            <a:r>
              <a:t>📦 Product Owner: Demands to Approve + Pending Signoffs</a:t>
            </a:r>
            <a:br/>
            <a:br/>
            <a:r>
              <a:t>🚀 Delivery Lead: Demands to Triage/Assess/Convert</a:t>
            </a:r>
            <a:br/>
            <a:r>
              <a:t>  + Pending Signoffs</a:t>
            </a:r>
            <a:br/>
            <a:br/>
            <a:r>
              <a:t>📊 Business Analyst: Submitted Demands (view only)</a:t>
            </a:r>
            <a:br/>
            <a:br/>
            <a:r>
              <a:t>🔖 Release Manager: Pending Signoffs only</a:t>
            </a:r>
            <a:br/>
            <a:br/>
            <a:r>
              <a:t>🔒 ITSO: Assessed + PSC Review demands (security review)</a:t>
            </a:r>
            <a:br/>
            <a:br/>
            <a:r>
              <a:t>💡 Each card auto-navigates to the relevant tab on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5/34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👑 Admin — System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Full access — all 18 tabs, all actions</a:t>
            </a:r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Configure the entire system via ⚙️ Config tab</a:t>
            </a:r>
            <a:br/>
            <a:r>
              <a:t>• Manage users and their roles (👤 Users tab)</a:t>
            </a:r>
            <a:br/>
            <a:r>
              <a:t>• Approve demands, manage releases, oversee governance</a:t>
            </a:r>
            <a:br/>
            <a:r>
              <a:t>• 🔒 Can lock/unlock projects (prevents new requirements + edits)</a:t>
            </a:r>
            <a:br/>
            <a:r>
              <a:t>• 📦 Can move requirements back to Backlog</a:t>
            </a:r>
            <a:br/>
            <a:br/>
            <a:r>
              <a:t>TABS: All 18 — Dashboard, Portfolio, Demand, Capabilities,</a:t>
            </a:r>
            <a:br/>
            <a:r>
              <a:t>  Products, Projects, Requirements, Epics, Stories, Risks,</a:t>
            </a:r>
            <a:br/>
            <a:r>
              <a:t>  Dependencies, Releases, Sprints, Governance, Resources,</a:t>
            </a:r>
            <a:br/>
            <a:r>
              <a:t>  Users, Test, Config</a:t>
            </a:r>
            <a:br/>
            <a:br/>
            <a:r>
              <a:t>KEY ACTIONS:</a:t>
            </a:r>
            <a:br/>
            <a:r>
              <a:t>• 📥 Demand: Full workflow — Triage, Assess, Approve, Convert, Reject</a:t>
            </a:r>
            <a:br/>
            <a:r>
              <a:t>• 🚀 Release: Full lifecycle — Create, Open, Review, Complete, Signoff</a:t>
            </a:r>
            <a:br/>
            <a:r>
              <a:t>• ✅ Governance: Full edit (status, owner, dates)</a:t>
            </a:r>
            <a:br/>
            <a:r>
              <a:t>• 👤 Users: Create/Edit/Delete users, assign roles</a:t>
            </a:r>
            <a:br/>
            <a:r>
              <a:t>• ⚙️ Config: Add/edit/remove configuration entries</a:t>
            </a:r>
            <a:br/>
            <a:br/>
            <a:r>
              <a:t>DASHBOARD: All pending items across every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6/34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🏢 Value Stream PMO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Cross-VS oversight — like Admin without Config/Users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Cross-VS oversight — sees all value streams unfiltered</a:t>
            </a:r>
            <a:br/>
            <a:r>
              <a:t>• Approve demands across any value stream</a:t>
            </a:r>
            <a:br/>
            <a:r>
              <a:t>• Manage resources and review governance</a:t>
            </a:r>
            <a:br/>
            <a:r>
              <a:t>• 🔒 Can lock/unlock projects</a:t>
            </a:r>
            <a:br/>
            <a:r>
              <a:t>• 📦 Can move requirements back to Backlog</a:t>
            </a:r>
            <a:br/>
            <a:br/>
            <a:r>
              <a:t>TABS (15): Dashboard, Portfolio, Demand, Capabilities, Products,</a:t>
            </a:r>
            <a:br/>
            <a:r>
              <a:t>  Projects, Requirements, Epics, Stories, Risks, Dependencies,</a:t>
            </a:r>
            <a:br/>
            <a:r>
              <a:t>  Releases, Sprints, Governance, Resources</a:t>
            </a:r>
            <a:br/>
            <a:br/>
            <a:r>
              <a:t>KEY DIFFERENCES FROM ADMIN:</a:t>
            </a:r>
            <a:br/>
            <a:r>
              <a:t>• ❌ Cannot access Config tab</a:t>
            </a:r>
            <a:br/>
            <a:r>
              <a:t>• ❌ Cannot manage users</a:t>
            </a:r>
            <a:br/>
            <a:r>
              <a:t>• ❌ No Test tab access</a:t>
            </a:r>
            <a:br/>
            <a:r>
              <a:t>• ✅ Everything else same as Admin</a:t>
            </a:r>
            <a:br/>
            <a:br/>
            <a:r>
              <a:t>DASHBOARD: Demands to Approve + Pending Signoffs across all 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7/34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🌊 Value Stream Owner (VSO)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Owns one or more value streams — approves demands within their 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Oversee demands across their assigned value streams</a:t>
            </a:r>
            <a:br/>
            <a:r>
              <a:t>• Approve demands that have been assessed (Assessed → Approved)</a:t>
            </a:r>
            <a:br/>
            <a:r>
              <a:t>• Review Portfolio and Sprint views filtered to their VS</a:t>
            </a:r>
            <a:br/>
            <a:r>
              <a:t>• Monitor risks, dependencies, and governance for their VS products</a:t>
            </a:r>
            <a:br/>
            <a:r>
              <a:t>• 🔒 Can lock/unlock projects within their VS</a:t>
            </a:r>
            <a:br/>
            <a:r>
              <a:t>• 📦 Can move requirements back to Backlog within their VS</a:t>
            </a:r>
            <a:br/>
            <a:br/>
            <a:r>
              <a:t>TABS (14): Dashboard, Portfolio, Demand, Products, Projects,</a:t>
            </a:r>
            <a:br/>
            <a:r>
              <a:t>  Capabilities, Requirements, Epics, Stories, Risks,</a:t>
            </a:r>
            <a:br/>
            <a:r>
              <a:t>  Dependencies, Releases, Sprints, Governance</a:t>
            </a:r>
            <a:br/>
            <a:br/>
            <a:r>
              <a:t>KEY ACTIONS:</a:t>
            </a:r>
            <a:br/>
            <a:r>
              <a:t>• 📥 Demand: Approve + Reject demands</a:t>
            </a:r>
            <a:br/>
            <a:r>
              <a:t>• 🚀 Release: Signoff pending stories</a:t>
            </a:r>
            <a:br/>
            <a:r>
              <a:t>• 📈 Portfolio: Sees only their assigned value stream products</a:t>
            </a:r>
            <a:br/>
            <a:r>
              <a:t>• 📋 Sprints: Sees only their assigned VS products</a:t>
            </a:r>
            <a:br/>
            <a:r>
              <a:t>• ✅ Governance: Full edit</a:t>
            </a:r>
            <a:br/>
            <a:br/>
            <a:r>
              <a:t>CONFIG: Assign value streams via 👤 Users tab</a:t>
            </a:r>
            <a:br/>
            <a:r>
              <a:t>  (pm_valuestream field — comma-separated VS config IDs)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8/34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📦 Product Owner (PO)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Owns specific products — approves demands, signs off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Product-level demand approval (Assessed → Approved)</a:t>
            </a:r>
            <a:br/>
            <a:r>
              <a:t>• Sign off on release items (✍️ Signoff button)</a:t>
            </a:r>
            <a:br/>
            <a:r>
              <a:t>• Review epics and stories for their products</a:t>
            </a:r>
            <a:br/>
            <a:r>
              <a:t>• ❌ Cannot lock/unlock projects</a:t>
            </a:r>
            <a:br/>
            <a:r>
              <a:t>• ❌ Cannot move requirements to Backlog</a:t>
            </a:r>
            <a:br/>
            <a:br/>
            <a:r>
              <a:t>TABS (13): Dashboard, Portfolio, Demand, Products, Projects,</a:t>
            </a:r>
            <a:br/>
            <a:r>
              <a:t>  Requirements, Epics, Stories, Risks, Dependencies, Releases,</a:t>
            </a:r>
            <a:br/>
            <a:r>
              <a:t>  Sprints, Governance</a:t>
            </a:r>
            <a:br/>
            <a:br/>
            <a:r>
              <a:t>KEY ACTIONS:</a:t>
            </a:r>
            <a:br/>
            <a:r>
              <a:t>• 📥 Demand: Approve + Reject (only these two workflow actions)</a:t>
            </a:r>
            <a:br/>
            <a:r>
              <a:t>• 🚀 Release: Signoff pending stories (✍️ Signoff button)</a:t>
            </a:r>
            <a:br/>
            <a:r>
              <a:t>• ✅ Governance: Can edit items</a:t>
            </a:r>
            <a:br/>
            <a:r>
              <a:t>• 📦 Products: View, edit, manage product details</a:t>
            </a:r>
            <a:br/>
            <a:br/>
            <a:r>
              <a:t>NOTE: Cannot create/edit demands, cannot triage or assess</a:t>
            </a:r>
            <a:br/>
            <a:r>
              <a:t>DASHBOARD: Demands to Approve + Pending Release Signoffs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9/34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🚀 Delivery Lead (DL)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Manages delivery — projects, epics, resources, releases</a:t>
            </a:r>
          </a:p>
        </p:txBody>
      </p:sp>
      <p:pic>
        <p:nvPicPr>
          <p:cNvPr id="5" name="Picture 4" descr="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Own demand workflow: Triage → Assess → Convert</a:t>
            </a:r>
            <a:br/>
            <a:r>
              <a:t>• Manage projects, epics, stories, resources</a:t>
            </a:r>
            <a:br/>
            <a:r>
              <a:t>• Register stories into releases</a:t>
            </a:r>
            <a:br/>
            <a:r>
              <a:t>• Review governance checklists</a:t>
            </a:r>
            <a:br/>
            <a:r>
              <a:t>• ❌ Cannot lock/unlock projects</a:t>
            </a:r>
            <a:br/>
            <a:r>
              <a:t>• ❌ Cannot move requirements to Backlog</a:t>
            </a:r>
            <a:br/>
            <a:br/>
            <a:r>
              <a:t>TABS (16): Dashboard, Portfolio, Demand, Products, Projects,</a:t>
            </a:r>
            <a:br/>
            <a:r>
              <a:t>  Capabilities, Requirements, Epics, Stories, Risks,</a:t>
            </a:r>
            <a:br/>
            <a:r>
              <a:t>  Dependencies, Releases, Sprints, Governance, Resources, Users</a:t>
            </a:r>
            <a:br/>
            <a:br/>
            <a:r>
              <a:t>KEY ACTIONS:</a:t>
            </a:r>
            <a:br/>
            <a:r>
              <a:t>• 📥 Demand: Triage, Assess, Convert, Reject (+ Raise Demand)</a:t>
            </a:r>
            <a:br/>
            <a:r>
              <a:t>• 🚀 Release: Register stories (+ Create/Edit/Delete releases)</a:t>
            </a:r>
            <a:br/>
            <a:r>
              <a:t>• ✅ Governance: Full edit all items</a:t>
            </a:r>
            <a:br/>
            <a:r>
              <a:t>• 👥 Resources: Full CRUD</a:t>
            </a:r>
            <a:br/>
            <a:r>
              <a:t>• 👤 Users: Can manage users and their roles</a:t>
            </a:r>
            <a:br/>
            <a:br/>
            <a:r>
              <a:t>DASHBOARD: Demands to Triage/Assess/Convert + Pending Signoffs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10/34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Business Analyst (BA)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Raises demands, analyzes requirements — read-only on most views</a:t>
            </a:r>
          </a:p>
        </p:txBody>
      </p:sp>
      <p:pic>
        <p:nvPicPr>
          <p:cNvPr id="5" name="Picture 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Raise new demands (+ Raise Demand button)</a:t>
            </a:r>
            <a:br/>
            <a:r>
              <a:t>• View demand status and track progress</a:t>
            </a:r>
            <a:br/>
            <a:r>
              <a:t>• Review requirements and products</a:t>
            </a:r>
            <a:br/>
            <a:r>
              <a:t>• ❌ Cannot edit existing items (except own demands)</a:t>
            </a:r>
            <a:br/>
            <a:r>
              <a:t>• ❌ Cannot lock/unlock projects</a:t>
            </a:r>
            <a:br/>
            <a:r>
              <a:t>• ❌ Cannot move requirements to Backlog</a:t>
            </a:r>
            <a:br/>
            <a:br/>
            <a:r>
              <a:t>TABS (14): Dashboard, Portfolio, Demand, Products, Projects,</a:t>
            </a:r>
            <a:br/>
            <a:r>
              <a:t>  Capabilities, Requirements, Epics, Stories, Risks,</a:t>
            </a:r>
            <a:br/>
            <a:r>
              <a:t>  Dependencies, Releases, Sprints, Governance</a:t>
            </a:r>
            <a:br/>
            <a:br/>
            <a:r>
              <a:t>KEY ACTIONS:</a:t>
            </a:r>
            <a:br/>
            <a:r>
              <a:t>• 📥 Demand: Can raise new demands (Submit)</a:t>
            </a:r>
            <a:br/>
            <a:r>
              <a:t>• ❌ Cannot edit existing demands / Triage/Assess/Approve/Reject</a:t>
            </a:r>
            <a:br/>
            <a:r>
              <a:t>• ✅ Governance: READ-ONLY (inputs disabled, Generate hidden)</a:t>
            </a:r>
            <a:br/>
            <a:r>
              <a:t>• All other views: READ-ONLY</a:t>
            </a:r>
            <a:br/>
            <a:br/>
            <a:r>
              <a:t>DASHBOARD: Submitted demands only</a:t>
            </a:r>
            <a:br/>
            <a:r>
              <a:t>SPRINT BOARD: Only shows products linked to their demands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11/34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🔖 Release Manager (RM)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Manages release lifecycle and signoffs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Full release lifecycle: Create → Open → Review → Complete</a:t>
            </a:r>
            <a:br/>
            <a:r>
              <a:t>• Sign off on release items</a:t>
            </a:r>
            <a:br/>
            <a:r>
              <a:t>• Register stories into releases</a:t>
            </a:r>
            <a:br/>
            <a:r>
              <a:t>• ❌ No access to 📥 Demand tab</a:t>
            </a:r>
            <a:br/>
            <a:r>
              <a:t>• ❌ Cannot lock/unlock projects</a:t>
            </a:r>
            <a:br/>
            <a:r>
              <a:t>• ❌ Cannot move requirements to Backlog</a:t>
            </a:r>
            <a:br/>
            <a:br/>
            <a:r>
              <a:t>TABS (12): Dashboard, Portfolio, Products, Projects,</a:t>
            </a:r>
            <a:br/>
            <a:r>
              <a:t>  Requirements, Epics, Stories, Risks, Dependencies, Releases,</a:t>
            </a:r>
            <a:br/>
            <a:r>
              <a:t>  Sprints, Governance</a:t>
            </a:r>
            <a:br/>
            <a:br/>
            <a:r>
              <a:t>KEY ACTIONS:</a:t>
            </a:r>
            <a:br/>
            <a:r>
              <a:t>• 🚀 Release: ALL actions — Create, Open, Review, Complete,</a:t>
            </a:r>
            <a:br/>
            <a:r>
              <a:t>  Signoff, Register</a:t>
            </a:r>
            <a:br/>
            <a:r>
              <a:t>• ✅ Governance: Can edit items</a:t>
            </a:r>
            <a:br/>
            <a:r>
              <a:t>• All other tabs: View-only</a:t>
            </a:r>
            <a:br/>
            <a:br/>
            <a:r>
              <a:t>DASHBOARD: Pending signoffs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12/34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🔒 ITSO — IT Security Officer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Reviews demands and risks from a security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RESPONSIBILITIES:</a:t>
            </a:r>
            <a:br/>
            <a:r>
              <a:t>• Security review of demands in Assessed or PSC Review status</a:t>
            </a:r>
            <a:br/>
            <a:r>
              <a:t>• Monitor risks and dependencies across all products</a:t>
            </a:r>
            <a:br/>
            <a:r>
              <a:t>• Review requirements for security compliance</a:t>
            </a:r>
            <a:br/>
            <a:r>
              <a:t>• ❌ Cannot create/edit/change status on demands</a:t>
            </a:r>
            <a:br/>
            <a:r>
              <a:t>• ❌ Cannot lock/unlock projects</a:t>
            </a:r>
            <a:br/>
            <a:br/>
            <a:r>
              <a:t>TABS (12): Dashboard, Portfolio, Products, Projects,</a:t>
            </a:r>
            <a:br/>
            <a:r>
              <a:t>  Requirements, Epics, Stories, Risks, Dependencies, Releases,</a:t>
            </a:r>
            <a:br/>
            <a:r>
              <a:t>  Sprints, Governance</a:t>
            </a:r>
            <a:br/>
            <a:br/>
            <a:r>
              <a:t>KEY ACTIONS:</a:t>
            </a:r>
            <a:br/>
            <a:r>
              <a:t>• 📥 Demand: READ-ONLY (cannot create/edit/change status)</a:t>
            </a:r>
            <a:br/>
            <a:r>
              <a:t>• ⚠️ Risks &amp; 🔗 Dependencies: View-only</a:t>
            </a:r>
            <a:br/>
            <a:r>
              <a:t>• ✅ Governance: READ-ONLY</a:t>
            </a:r>
            <a:br/>
            <a:r>
              <a:t>• ❌ No Demand tab access (uses Dashboard for security review)</a:t>
            </a:r>
            <a:br/>
            <a:br/>
            <a:r>
              <a:t>DASHBOARD: Demands in Assessed + PSC Review status</a:t>
            </a:r>
            <a:br/>
            <a:r>
              <a:t>  (for security review purposes)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13/34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Role-filtered action items and key metrics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Central landing page showing each user's actionable items</a:t>
            </a:r>
            <a:br/>
            <a:r>
              <a:t>based on their role.</a:t>
            </a:r>
            <a:br/>
            <a:br/>
            <a:r>
              <a:t>COMPONENTS:</a:t>
            </a:r>
            <a:br/>
            <a:r>
              <a:t>• Action Items panel — role-filtered demands requiring attention</a:t>
            </a:r>
            <a:br/>
            <a:r>
              <a:t>  (e.g., Admin sees all pending; VSO sees only their VS demands)</a:t>
            </a:r>
            <a:br/>
            <a:r>
              <a:t>• Product Health — status of all products</a:t>
            </a:r>
            <a:br/>
            <a:r>
              <a:t>• Releases Snapshot — upcoming and in-review releases</a:t>
            </a:r>
            <a:br/>
            <a:r>
              <a:t>• Clickable cards — clicking navigates to the relevant tab</a:t>
            </a:r>
            <a:br/>
            <a:br/>
            <a:r>
              <a:t>ROLE FILTERING:</a:t>
            </a:r>
            <a:br/>
            <a:r>
              <a:t>• Each role sees different action items (see Slide 5)</a:t>
            </a:r>
            <a:br/>
            <a:r>
              <a:t>• Items auto-navigate to the relevant view for deeper action</a:t>
            </a:r>
            <a:br/>
            <a:br/>
            <a:r>
              <a:t>ACCESS: All 8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14/34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📈 Portfolio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Value Stream grouped product cards with holistic metrics</a:t>
            </a:r>
          </a:p>
        </p:txBody>
      </p:sp>
      <p:pic>
        <p:nvPicPr>
          <p:cNvPr id="5" name="Picture 4" descr="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Executive-level view of products grouped by Value Stream.</a:t>
            </a:r>
            <a:br/>
            <a:br/>
            <a:r>
              <a:t>PER-PRODUCT CARD:</a:t>
            </a:r>
            <a:br/>
            <a:r>
              <a:t>• Demand count with status breakdown (Submitted/Triaging/etc.)</a:t>
            </a:r>
            <a:br/>
            <a:r>
              <a:t>• Project count (active vs live)</a:t>
            </a:r>
            <a:br/>
            <a:r>
              <a:t>• Story Points: done/total with progress bar</a:t>
            </a:r>
            <a:br/>
            <a:r>
              <a:t>• Teams involved (derived from assignment chain)</a:t>
            </a:r>
            <a:br/>
            <a:r>
              <a:t>• Active sprints count</a:t>
            </a:r>
            <a:br/>
            <a:r>
              <a:t>• Risk &amp; dependency counts</a:t>
            </a:r>
            <a:br/>
            <a:br/>
            <a:r>
              <a:t>VALUE STREAM HEADER:</a:t>
            </a:r>
            <a:br/>
            <a:r>
              <a:t>• Flow step count badge (e.g. '3 steps')</a:t>
            </a:r>
            <a:br/>
            <a:r>
              <a:t>• Product count within that VS</a:t>
            </a:r>
            <a:br/>
            <a:br/>
            <a:r>
              <a:t>ROLE FILTERING:</a:t>
            </a:r>
            <a:br/>
            <a:r>
              <a:t>• VSO: only their assigned value stream products</a:t>
            </a:r>
            <a:br/>
            <a:r>
              <a:t>• All others: full view</a:t>
            </a:r>
            <a:br/>
            <a:br/>
            <a:r>
              <a:t>Click any card → navigates to Products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15/34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📥 Demand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Configurable workflow per Value Stream</a:t>
            </a:r>
          </a:p>
        </p:txBody>
      </p:sp>
      <p:pic>
        <p:nvPicPr>
          <p:cNvPr id="5" name="Picture 4" descr="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Submit &amp; manage demands through configurable approval flows.</a:t>
            </a:r>
            <a:br/>
            <a:br/>
            <a:r>
              <a:t>HOW TO RAISE:</a:t>
            </a:r>
            <a:br/>
            <a:r>
              <a:t>1. Click + Raise Demand</a:t>
            </a:r>
            <a:br/>
            <a:r>
              <a:t>2. Fill Title, Detail, Type, Priority</a:t>
            </a:r>
            <a:br/>
            <a:r>
              <a:t>3. Select Value Stream (determines workflow steps)</a:t>
            </a:r>
            <a:br/>
            <a:r>
              <a:t>4. Select Product</a:t>
            </a:r>
            <a:br/>
            <a:r>
              <a:t>5. Save → status set to first flow step</a:t>
            </a:r>
            <a:br/>
            <a:br/>
            <a:r>
              <a:t>WORKFLOW BY VALUE STREAM:</a:t>
            </a:r>
            <a:br/>
            <a:r>
              <a:t>• Customer Experience: Submitted → Triaging (2 steps)</a:t>
            </a:r>
            <a:br/>
            <a:r>
              <a:t>• Operational Efficiency: Submitted → Triaging → Assessed (3 steps)</a:t>
            </a:r>
            <a:br/>
            <a:r>
              <a:t>• Risk &amp; Compliance: Submitted → Triaging → Assessed → PSC (4 steps)</a:t>
            </a:r>
            <a:br/>
            <a:br/>
            <a:r>
              <a:t>STATUS CONTROL:</a:t>
            </a:r>
            <a:br/>
            <a:r>
              <a:t>• Intermediate steps: popup shows only flow progression options</a:t>
            </a:r>
            <a:br/>
            <a:r>
              <a:t>• Final step: popup shows ✅ Approve, 📥 Backlog, ❌ Reject</a:t>
            </a:r>
            <a:br/>
            <a:br/>
            <a:r>
              <a:t>⚙️ CONFIG: Edit demand_flow entries in Config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16/34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📥 Demand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Flow steps → terminal actions → convert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Workflow Patterns by Value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Customer Experience  (2 steps)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37360" y="1947672"/>
            <a:ext cx="36576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94560" y="1874519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Triaging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697480" y="2258568"/>
            <a:ext cx="1828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5603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4748B"/>
                </a:solidFill>
              </a:defRPr>
            </a:pPr>
            <a:r>
              <a:t>Terminal 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Operational Efficiency  (3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37360" y="2724912"/>
            <a:ext cx="36576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65176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Triaging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74720" y="2724912"/>
            <a:ext cx="36576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31920" y="265176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Assessed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434840" y="3035808"/>
            <a:ext cx="1828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33375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4748B"/>
                </a:solidFill>
              </a:defRPr>
            </a:pPr>
            <a:r>
              <a:t>Terminal 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Risk &amp; Compliance  (4 steps)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737360" y="3502152"/>
            <a:ext cx="36576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94560" y="342900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Triaging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74720" y="3502152"/>
            <a:ext cx="36576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31920" y="342900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Assessed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12080" y="3502152"/>
            <a:ext cx="36576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0" y="3429000"/>
            <a:ext cx="11887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PSC Review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172200" y="3813048"/>
            <a:ext cx="182880" cy="27432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114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4748B"/>
                </a:solidFill>
              </a:defRPr>
            </a:pPr>
            <a:r>
              <a:t>Terminal &gt;&gt;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1508760"/>
            <a:ext cx="137160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✅ Approve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2194560"/>
            <a:ext cx="1371600" cy="50292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📥 Backlog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2880360"/>
            <a:ext cx="137160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❌ Reject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909560" y="2039112"/>
            <a:ext cx="182880" cy="13716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0" y="3703320"/>
            <a:ext cx="137160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Convert</a:t>
            </a:r>
            <a:br/>
            <a:r>
              <a:t>Modal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Requirement (linked)</a:t>
            </a:r>
            <a:br/>
            <a:r>
              <a:t>or Backlog (unlinked)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640080" cy="2286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Flow Step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" y="4572000"/>
            <a:ext cx="640080" cy="228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Approve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4572000"/>
            <a:ext cx="640080" cy="22860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Backlog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4572000"/>
            <a:ext cx="6400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Reject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572000"/>
            <a:ext cx="640080" cy="228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Convert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</a:defRPr>
            </a:pPr>
            <a:r>
              <a:t>💡 At intermediate steps: only flow progression options shown.</a:t>
            </a:r>
            <a:br/>
            <a:r>
              <a:t>At the FINAL step: terminal actions appear (Approved / Backlog / Reject).</a:t>
            </a:r>
            <a:br/>
            <a:r>
              <a:t>Convert creates a Requirement (linked to project) or Backlog item (unlinked).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17/34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Business capability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PURPOSE: Define and manage business capabilities that link</a:t>
            </a:r>
            <a:br/>
            <a:r>
              <a:t>products, demands, and requirements together.</a:t>
            </a:r>
            <a:br/>
            <a:br/>
            <a:r>
              <a:t>FEATURES:</a:t>
            </a:r>
            <a:br/>
            <a:r>
              <a:t>• Create/Edit/Delete capabilities</a:t>
            </a:r>
            <a:br/>
            <a:r>
              <a:t>• Each capability has: Name, Description, Type, Cost</a:t>
            </a:r>
            <a:br/>
            <a:r>
              <a:t>• Capability Type sourced from config (capability_type)</a:t>
            </a:r>
            <a:br/>
            <a:r>
              <a:t>• Capability-Product links via linking table</a:t>
            </a:r>
            <a:br/>
            <a:r>
              <a:t>   (one capability can serve multiple products)</a:t>
            </a:r>
            <a:br/>
            <a:br/>
            <a:r>
              <a:t>USAGE IN WORKFLOW:</a:t>
            </a:r>
            <a:br/>
            <a:r>
              <a:t>• Demands reference a capability</a:t>
            </a:r>
            <a:br/>
            <a:r>
              <a:t>• Requirements reference a capability</a:t>
            </a:r>
            <a:br/>
            <a:r>
              <a:t>• Capabilities bridge business needs to product delivery</a:t>
            </a:r>
            <a:br/>
            <a:br/>
            <a:r>
              <a:t>ACCESS: Admin, VSPMO, VSO, DL, BA (5 roles)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18/34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📦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Application catalog linked to Value Streams</a:t>
            </a:r>
          </a:p>
        </p:txBody>
      </p:sp>
      <p:pic>
        <p:nvPicPr>
          <p:cNvPr id="5" name="Picture 4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Manage the product/application portfolio.</a:t>
            </a:r>
            <a:br/>
            <a:br/>
            <a:r>
              <a:t>FEATURES:</a:t>
            </a:r>
            <a:br/>
            <a:r>
              <a:t>• Create/Edit/Delete products</a:t>
            </a:r>
            <a:br/>
            <a:r>
              <a:t>• Each product has: Name, Short Name, Journey Name</a:t>
            </a:r>
            <a:br/>
            <a:r>
              <a:t>• Linked to a Value Stream (drives governance template)</a:t>
            </a:r>
            <a:br/>
            <a:r>
              <a:t>• Governance Status and Contact fields</a:t>
            </a:r>
            <a:br/>
            <a:r>
              <a:t>• Capability-Product links (assign capabilities to products)</a:t>
            </a:r>
            <a:br/>
            <a:br/>
            <a:r>
              <a:t>RELATIONSHIPS:</a:t>
            </a:r>
            <a:br/>
            <a:r>
              <a:t>• Products are the target of Demands (pm_product)</a:t>
            </a:r>
            <a:br/>
            <a:r>
              <a:t>• Projects are linked to products (pm_productname)</a:t>
            </a:r>
            <a:br/>
            <a:r>
              <a:t>• Governance templates auto-detect from product's VS</a:t>
            </a:r>
            <a:br/>
            <a:br/>
            <a:r>
              <a:t>ACCESS: All 8 roles (editing limited by role permissions)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19/34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📁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Pipeline tracking with lock/unlock and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PURPOSE: Manage delivery projects with pipeline status and scope control.</a:t>
            </a:r>
            <a:br/>
            <a:br/>
            <a:r>
              <a:t>FEATURES:</a:t>
            </a:r>
            <a:br/>
            <a:r>
              <a:t>• Create/Edit/Delete projects</a:t>
            </a:r>
            <a:br/>
            <a:r>
              <a:t>• Pipeline Board view (PipelineBoard component)</a:t>
            </a:r>
            <a:br/>
            <a:r>
              <a:t>• Each project has: Name, Product, Status, Completion %,</a:t>
            </a:r>
            <a:br/>
            <a:r>
              <a:t>  Enhancement Type, Priority, Scope, Year/Quarter</a:t>
            </a:r>
            <a:br/>
            <a:r>
              <a:t>• Gov Template override (auto-detect from VS or explicit)</a:t>
            </a:r>
            <a:br/>
            <a:r>
              <a:t>• 🔒 Lock/Unlock button (Admin/VSPMO/VSO only)</a:t>
            </a:r>
            <a:br/>
            <a:r>
              <a:t>   — Locked: no new requirements, no edits to existing ones</a:t>
            </a:r>
            <a:br/>
            <a:r>
              <a:t>   — Unlinked requirements can still be moved out (descope)</a:t>
            </a:r>
            <a:br/>
            <a:br/>
            <a:r>
              <a:t>EXPAND ROW: Shows linked requirements with status badges</a:t>
            </a:r>
            <a:br/>
            <a:br/>
            <a:r>
              <a:t>ACCESS: All 8 roles (lock/unlock restricted)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20/34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📋 Requirements (Backlog)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All/Linked/Backlog modes with priority and project linking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PURPOSE: Manage requirements — both unlinked (Backlog)</a:t>
            </a:r>
            <a:br/>
            <a:r>
              <a:t>and linked to projects (Requirements).</a:t>
            </a:r>
            <a:br/>
            <a:br/>
            <a:r>
              <a:t>SAME TABLE: pm_requirement serves double duty:</a:t>
            </a:r>
            <a:br/>
            <a:r>
              <a:t>• No pm_projectname → Backlog (status: Prioritized)</a:t>
            </a:r>
            <a:br/>
            <a:r>
              <a:t>• Has pm_projectname → Requirement (status: Linked)</a:t>
            </a:r>
            <a:br/>
            <a:br/>
            <a:r>
              <a:t>VIEW MODES: All | Linked | Backlog</a:t>
            </a:r>
            <a:br/>
            <a:br/>
            <a:r>
              <a:t>ACTIONS:</a:t>
            </a:r>
            <a:br/>
            <a:r>
              <a:t>• Link to Project — dropdown on backlog items → sets project + Linked</a:t>
            </a:r>
            <a:br/>
            <a:r>
              <a:t>  (locked projects are hidden from the dropdown)</a:t>
            </a:r>
            <a:br/>
            <a:r>
              <a:t>• 📦 Backlog/Unlink — moves requirement back to backlog</a:t>
            </a:r>
            <a:br/>
            <a:r>
              <a:t>  (Admin/VSPMO/VSO only; works even on locked projects)</a:t>
            </a:r>
            <a:br/>
            <a:r>
              <a:t>• ✏️ Edit — inline modal (blocked if project is locked)</a:t>
            </a:r>
            <a:br/>
            <a:r>
              <a:t>• Priority column for backlog ranking</a:t>
            </a:r>
            <a:br/>
            <a:br/>
            <a:r>
              <a:t>Expanded row shows linked epics and assignments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21/34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⚡ Epics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Project breakdown with effort estimation and RAG status</a:t>
            </a:r>
          </a:p>
        </p:txBody>
      </p:sp>
      <p:pic>
        <p:nvPicPr>
          <p:cNvPr id="5" name="Picture 4" descr="e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Break down projects into manageable epics.</a:t>
            </a:r>
            <a:br/>
            <a:br/>
            <a:r>
              <a:t>FEATURES:</a:t>
            </a:r>
            <a:br/>
            <a:r>
              <a:t>• Create/Edit/Delete epics</a:t>
            </a:r>
            <a:br/>
            <a:r>
              <a:t>• Each epic has: Title, Detail, Project link</a:t>
            </a:r>
            <a:br/>
            <a:r>
              <a:t>• Jira Link for external tracking</a:t>
            </a:r>
            <a:br/>
            <a:r>
              <a:t>• Estimated Effort (days)</a:t>
            </a:r>
            <a:br/>
            <a:r>
              <a:t>• Release Date, Start Date, Completed Date</a:t>
            </a:r>
            <a:br/>
            <a:r>
              <a:t>• RAG Status (G/A/R) for health tracking</a:t>
            </a:r>
            <a:br/>
            <a:br/>
            <a:r>
              <a:t>RELATIONSHIPS:</a:t>
            </a:r>
            <a:br/>
            <a:r>
              <a:t>• Epics belong to a project</a:t>
            </a:r>
            <a:br/>
            <a:r>
              <a:t>• User Stories belong to an epic</a:t>
            </a:r>
            <a:br/>
            <a:r>
              <a:t>• Resource Assignments target epics</a:t>
            </a:r>
            <a:br/>
            <a:r>
              <a:t>  (team membership derived from assignment→resource→team)</a:t>
            </a:r>
            <a:br/>
            <a:br/>
            <a:r>
              <a:t>ACCESS: All roles (except RM/ITSO cannot edit)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22/34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📝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Detailed requirements with acceptance criteria and story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PURPOSE: Detailed work items within epics.</a:t>
            </a:r>
            <a:br/>
            <a:br/>
            <a:r>
              <a:t>FEATURES:</a:t>
            </a:r>
            <a:br/>
            <a:r>
              <a:t>• Create/Edit/Delete user stories</a:t>
            </a:r>
            <a:br/>
            <a:r>
              <a:t>• Each story has: Detail, Epic link</a:t>
            </a:r>
            <a:br/>
            <a:r>
              <a:t>• Acceptance Criteria (UAC) — multi-line text</a:t>
            </a:r>
            <a:br/>
            <a:r>
              <a:t>• Story Points for estimation</a:t>
            </a:r>
            <a:br/>
            <a:br/>
            <a:r>
              <a:t>RELATIONSHIPS:</a:t>
            </a:r>
            <a:br/>
            <a:r>
              <a:t>• Stories link to epics (which link to projects)</a:t>
            </a:r>
            <a:br/>
            <a:r>
              <a:t>• Stories are registered into releases (via Release Items)</a:t>
            </a:r>
            <a:br/>
            <a:r>
              <a:t>• Sprint Board tracks story points per team×product</a:t>
            </a:r>
            <a:br/>
            <a:br/>
            <a:r>
              <a:t>USAGE IN SPRINT BOARD:</a:t>
            </a:r>
            <a:br/>
            <a:r>
              <a:t>• Completed story points = progress tracking</a:t>
            </a:r>
            <a:br/>
            <a:r>
              <a:t>• Acceptance criteria shown in sprint cards (truncated)</a:t>
            </a:r>
            <a:br/>
            <a:br/>
            <a:r>
              <a:t>ACCESS: All roles (edit restricted by role permissions)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23/34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⚠️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Track risks linked to products and requirements</a:t>
            </a:r>
          </a:p>
        </p:txBody>
      </p:sp>
      <p:pic>
        <p:nvPicPr>
          <p:cNvPr id="5" name="Picture 4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Identify and monitor project risks.</a:t>
            </a:r>
            <a:br/>
            <a:br/>
            <a:r>
              <a:t>FEATURES:</a:t>
            </a:r>
            <a:br/>
            <a:r>
              <a:t>• Create/Edit/Delete risks</a:t>
            </a:r>
            <a:br/>
            <a:r>
              <a:t>• Each risk has: Summary, Detail</a:t>
            </a:r>
            <a:br/>
            <a:r>
              <a:t>• Linked to a Product</a:t>
            </a:r>
            <a:br/>
            <a:r>
              <a:t>• Optionally linked to a Requirement</a:t>
            </a:r>
            <a:br/>
            <a:br/>
            <a:r>
              <a:t>DASHBOARD INTEGRATION:</a:t>
            </a:r>
            <a:br/>
            <a:r>
              <a:t>• Risk counts shown on Portfolio product cards</a:t>
            </a:r>
            <a:br/>
            <a:r>
              <a:t>• Project rows show risk count in Related column</a:t>
            </a:r>
            <a:br/>
            <a:br/>
            <a:r>
              <a:t>ACCESS: All roles (edit restricted by role permissions)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24/34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🔗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Cross-product dependency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PURPOSE: Track dependencies between products and requirements.</a:t>
            </a:r>
            <a:br/>
            <a:br/>
            <a:r>
              <a:t>FEATURES:</a:t>
            </a:r>
            <a:br/>
            <a:r>
              <a:t>• Create/Edit/Delete dependencies</a:t>
            </a:r>
            <a:br/>
            <a:r>
              <a:t>• Each dependency has: Summary, Detail</a:t>
            </a:r>
            <a:br/>
            <a:r>
              <a:t>• Linked to a Product</a:t>
            </a:r>
            <a:br/>
            <a:r>
              <a:t>• Optionally linked to a Requirement</a:t>
            </a:r>
            <a:br/>
            <a:br/>
            <a:r>
              <a:t>DASHBOARD INTEGRATION:</a:t>
            </a:r>
            <a:br/>
            <a:r>
              <a:t>• Dependency counts shown on Portfolio product cards</a:t>
            </a:r>
            <a:br/>
            <a:r>
              <a:t>• Helps identify cross-team blockers</a:t>
            </a:r>
            <a:br/>
            <a:br/>
            <a:r>
              <a:t>ACCESS: All roles (edit restricted by role permissions)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25/34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🚀 Release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Epic-grouped with signoff workflow</a:t>
            </a:r>
          </a:p>
        </p:txBody>
      </p:sp>
      <p:pic>
        <p:nvPicPr>
          <p:cNvPr id="5" name="Picture 4" descr="rele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Manage the release lifecycle from draft to released.</a:t>
            </a:r>
            <a:br/>
            <a:br/>
            <a:r>
              <a:t>LIFECYCLE: Draft → Open → In Review → Released</a:t>
            </a:r>
            <a:br/>
            <a:r>
              <a:t>  (workflow buttons appear based on current status)</a:t>
            </a:r>
            <a:br/>
            <a:br/>
            <a:r>
              <a:t>REGISTERING STORIES:</a:t>
            </a:r>
            <a:br/>
            <a:r>
              <a:t>• Click ➕ Register on an Open release</a:t>
            </a:r>
            <a:br/>
            <a:r>
              <a:t>• Select unregistered user stories (grouped by epic)</a:t>
            </a:r>
            <a:br/>
            <a:r>
              <a:t>• Two-level expand: Release → Epics → Stories</a:t>
            </a:r>
            <a:br/>
            <a:br/>
            <a:r>
              <a:t>SIGNOFF WORKFLOW:</a:t>
            </a:r>
            <a:br/>
            <a:r>
              <a:t>• Individual story signoff: Pending → Approved / Rejected</a:t>
            </a:r>
            <a:br/>
            <a:r>
              <a:t>• ✍️ Signoff modal: Decision + Note</a:t>
            </a:r>
            <a:br/>
            <a:r>
              <a:t>• Signoff recorded with by/date metadata</a:t>
            </a:r>
            <a:br/>
            <a:br/>
            <a:r>
              <a:t>Click any row → expands epics → expands stories</a:t>
            </a:r>
            <a:br/>
            <a:br/>
            <a:r>
              <a:t>ACCESS: All roles (edit restricted)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26/34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📋 Sprint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Team × Product matrix with SP tracking</a:t>
            </a:r>
          </a:p>
        </p:txBody>
      </p:sp>
      <p:pic>
        <p:nvPicPr>
          <p:cNvPr id="5" name="Picture 4" descr="s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Visual grid showing teams vs products with sprint progress.</a:t>
            </a:r>
            <a:br/>
            <a:br/>
            <a:r>
              <a:t>HOW IT WORKS:</a:t>
            </a:r>
            <a:br/>
            <a:r>
              <a:t>• Teams (rows) derived from resource assignments → epics</a:t>
            </a:r>
            <a:br/>
            <a:r>
              <a:t>• Products (columns) from release items → stories → epics</a:t>
            </a:r>
            <a:br/>
            <a:r>
              <a:t>  → projects → products</a:t>
            </a:r>
            <a:br/>
            <a:br/>
            <a:r>
              <a:t>SPRINT CARD SHOWS:</a:t>
            </a:r>
            <a:br/>
            <a:r>
              <a:t>• Sprint name &amp; status badge</a:t>
            </a:r>
            <a:br/>
            <a:r>
              <a:t>• Release &amp; cutoff dates</a:t>
            </a:r>
            <a:br/>
            <a:r>
              <a:t>• Story count &amp; signoff progress</a:t>
            </a:r>
            <a:br/>
            <a:r>
              <a:t>• Story Points: completed/total (e.g., 21/26 SP)</a:t>
            </a:r>
            <a:br/>
            <a:r>
              <a:t>• Progress bar for pending signoffs</a:t>
            </a:r>
            <a:br/>
            <a:br/>
            <a:r>
              <a:t>FILTERS:</a:t>
            </a:r>
            <a:br/>
            <a:r>
              <a:t>• ☑ Active only toggle (hide Released sprints)</a:t>
            </a:r>
            <a:br/>
            <a:r>
              <a:t>• VSO: sees only their VS products</a:t>
            </a:r>
            <a:br/>
            <a:r>
              <a:t>• BA: sees only products with active demands</a:t>
            </a:r>
            <a:br/>
            <a:br/>
            <a:r>
              <a:t>Click card → navigates to Releases tab with auto-expand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27/34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✅ Governance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Config-driven phases and tasks per project</a:t>
            </a:r>
          </a:p>
        </p:txBody>
      </p:sp>
      <p:pic>
        <p:nvPicPr>
          <p:cNvPr id="5" name="Picture 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Per-project governance tracking with configurable phases.</a:t>
            </a:r>
            <a:br/>
            <a:br/>
            <a:r>
              <a:t>TEMPLATE SYSTEM:</a:t>
            </a:r>
            <a:br/>
            <a:r>
              <a:t>• Each project has a governance template (auto-detect or explicit)</a:t>
            </a:r>
            <a:br/>
            <a:r>
              <a:t>• Template determines phases (from project_phase config)</a:t>
            </a:r>
            <a:br/>
            <a:r>
              <a:t>• Each phase has checklist items (from project_checklist config)</a:t>
            </a:r>
            <a:br/>
            <a:r>
              <a:t>• VS-specific or default templates available</a:t>
            </a:r>
            <a:br/>
            <a:br/>
            <a:r>
              <a:t>EDITING:</a:t>
            </a:r>
            <a:br/>
            <a:r>
              <a:t>• Status dropdown: To Do / In Progress / Done / N/A</a:t>
            </a:r>
            <a:br/>
            <a:r>
              <a:t>• Owner, Plan Start/End, Actual Start/End — inline editable</a:t>
            </a:r>
            <a:br/>
            <a:r>
              <a:t>• Config-only items auto-create on first edit</a:t>
            </a:r>
            <a:br/>
            <a:r>
              <a:t>• 'Generate N Items' creates all missing items at once</a:t>
            </a:r>
            <a:br/>
            <a:br/>
            <a:r>
              <a:t>FILTERS:</a:t>
            </a:r>
            <a:br/>
            <a:r>
              <a:t>• Project dropdown + Phase dropdown + Search bar</a:t>
            </a:r>
            <a:br/>
            <a:br/>
            <a:r>
              <a:t>ROLE: VSO sees only their VS projects; BA sees demand-linked</a:t>
            </a:r>
            <a:br/>
            <a:r>
              <a:t>  projects; edit restricted to Admin/DL/VSO/PO/RM/VSPMO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28/34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👥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People management with team and department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PURPOSE: Manage human resources / team members.</a:t>
            </a:r>
            <a:br/>
            <a:br/>
            <a:r>
              <a:t>FEATURES:</a:t>
            </a:r>
            <a:br/>
            <a:r>
              <a:t>• Create/Edit/Delete resources</a:t>
            </a:r>
            <a:br/>
            <a:r>
              <a:t>• Each resource has: Name, Role, Department, Team</a:t>
            </a:r>
            <a:br/>
            <a:r>
              <a:t>• Email, Joined/Leave dates</a:t>
            </a:r>
            <a:br/>
            <a:r>
              <a:t>• Cost (monthly) for budgeting</a:t>
            </a:r>
            <a:br/>
            <a:r>
              <a:t>• Status (Active/Inactive/On Leave)</a:t>
            </a:r>
            <a:br/>
            <a:br/>
            <a:r>
              <a:t>RELATIONSHIPS:</a:t>
            </a:r>
            <a:br/>
            <a:r>
              <a:t>• Resources assigned to epics via pm_assignment</a:t>
            </a:r>
            <a:br/>
            <a:r>
              <a:t>  (allocation %, start/end dates)</a:t>
            </a:r>
            <a:br/>
            <a:r>
              <a:t>• Team derived from resource → determines Sprint Board rows</a:t>
            </a:r>
            <a:br/>
            <a:br/>
            <a:r>
              <a:t>ACCESS: Admin, VSPMO, DL, BA (plus Users tab for DL)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29/34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👤 Users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User management with role assignment</a:t>
            </a:r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Manage who can access the system and what they can do.</a:t>
            </a:r>
            <a:br/>
            <a:br/>
            <a:r>
              <a:t>FEATURES:</a:t>
            </a:r>
            <a:br/>
            <a:r>
              <a:t>• Create/Edit/Delete users</a:t>
            </a:r>
            <a:br/>
            <a:r>
              <a:t>• Each user has: Username, Display Name, Email</a:t>
            </a:r>
            <a:br/>
            <a:r>
              <a:t>• Role assignment (single role per user)</a:t>
            </a:r>
            <a:br/>
            <a:r>
              <a:t>• VSO users: assign value streams via checkboxes</a:t>
            </a:r>
            <a:br/>
            <a:r>
              <a:t>  (pm_valuestream = comma-separated VS config IDs)</a:t>
            </a:r>
            <a:br/>
            <a:r>
              <a:t>• Status field (active/inactive)</a:t>
            </a:r>
            <a:br/>
            <a:br/>
            <a:r>
              <a:t>ROLES AVAILABLE:</a:t>
            </a:r>
            <a:br/>
            <a:r>
              <a:t>• Admin, Value Stream PMO, Value Stream Owner, Product Owner,</a:t>
            </a:r>
            <a:br/>
            <a:r>
              <a:t>  Delivery Lead, Business Analyst, Release Manager, ITSO</a:t>
            </a:r>
            <a:br/>
            <a:br/>
            <a:r>
              <a:t>ROLE SELECTOR:</a:t>
            </a:r>
            <a:br/>
            <a:r>
              <a:t>• Header dropdown to switch roles (DEV mode)</a:t>
            </a:r>
            <a:br/>
            <a:r>
              <a:t>• Persisted in localStorage</a:t>
            </a:r>
            <a:br/>
            <a:r>
              <a:t>• Tab visibility and edit permissions change accordingly</a:t>
            </a:r>
            <a:br/>
            <a:br/>
            <a:r>
              <a:t>ACCESS: Admin, 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30/34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⚙️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Manage all dropdown options and workflow definitions</a:t>
            </a:r>
          </a:p>
        </p:txBody>
      </p:sp>
      <p:pic>
        <p:nvPicPr>
          <p:cNvPr id="5" name="Picture 4" descr="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580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3444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0F172A"/>
                </a:solidFill>
              </a:defRPr>
            </a:pPr>
            <a:r>
              <a:t>PURPOSE: Central configuration for all configurable values.</a:t>
            </a:r>
            <a:br/>
            <a:br/>
            <a:r>
              <a:t>CONFIG TYPES (21):</a:t>
            </a:r>
            <a:br/>
            <a:r>
              <a:t>• value_stream, team, department, enhancement_type</a:t>
            </a:r>
            <a:br/>
            <a:r>
              <a:t>• capability_type, governance_status, priority</a:t>
            </a:r>
            <a:br/>
            <a:r>
              <a:t>• rag_status, requirement_status, psc_approval_status</a:t>
            </a:r>
            <a:br/>
            <a:r>
              <a:t>• signoff_status, resource_status, project_status</a:t>
            </a:r>
            <a:br/>
            <a:r>
              <a:t>• release_status, yes_no, tool, demand_type</a:t>
            </a:r>
            <a:br/>
            <a:r>
              <a:t>• demand_flow (workflow definitions)</a:t>
            </a:r>
            <a:br/>
            <a:r>
              <a:t>• user_role, project_phase, project_checklist</a:t>
            </a:r>
            <a:br/>
            <a:br/>
            <a:r>
              <a:t>WHAT YOU CAN DO:</a:t>
            </a:r>
            <a:br/>
            <a:r>
              <a:t>• Add new config entries (e.g., new priority level)</a:t>
            </a:r>
            <a:br/>
            <a:r>
              <a:t>• Edit existing entries</a:t>
            </a:r>
            <a:br/>
            <a:r>
              <a:t>• Delete unused entries</a:t>
            </a:r>
            <a:br/>
            <a:r>
              <a:t>• Change workflow steps (demand_flow)</a:t>
            </a:r>
            <a:br/>
            <a:r>
              <a:t>• Add/remove governance phases and checklist items</a:t>
            </a:r>
            <a:br/>
            <a:br/>
            <a:r>
              <a:t>💡 Changes take effect immediately — no code changes needed</a:t>
            </a:r>
            <a:br/>
            <a:br/>
            <a:r>
              <a:t>ACCESS: Admin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31/34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🔒 Project Lock &amp; 📦 Requirement Unlink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Scope control — freeze and descope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PROJECT LOCK (🔒):</a:t>
            </a:r>
            <a:br/>
            <a:r>
              <a:t>• Toggle button on each project row in 📁 Projects</a:t>
            </a:r>
            <a:br/>
            <a:r>
              <a:t>• When locked (pm_locked = 'Yes'):</a:t>
            </a:r>
            <a:br/>
            <a:r>
              <a:t>  — No new requirements can be linked to this project</a:t>
            </a:r>
            <a:br/>
            <a:r>
              <a:t>  — Existing requirements cannot be edited</a:t>
            </a:r>
            <a:br/>
            <a:r>
              <a:t>  — Locked projects hidden from 'Link to Project' dropdowns</a:t>
            </a:r>
            <a:br/>
            <a:r>
              <a:t>• 🔒 icon shown next to locked project names everywhere</a:t>
            </a:r>
            <a:br/>
            <a:br/>
            <a:r>
              <a:t>REQUIREMENT UNLINK (📦 Backlog):</a:t>
            </a:r>
            <a:br/>
            <a:r>
              <a:t>• Button on each linked requirement in 📋 Requirements</a:t>
            </a:r>
            <a:br/>
            <a:r>
              <a:t>• Clears pm_projectname, sets status to 'Prioritized'</a:t>
            </a:r>
            <a:br/>
            <a:r>
              <a:t>• Item returns to Backlog pool</a:t>
            </a:r>
            <a:br/>
            <a:r>
              <a:t>• Works even on locked projects (for descoping)</a:t>
            </a:r>
            <a:br/>
            <a:br/>
            <a:r>
              <a:t>WHO CAN DO IT:</a:t>
            </a:r>
            <a:br/>
            <a:r>
              <a:t>• 🔒 Lock/Unlock project: Admin, Value Stream PMO, Value Stream Owner</a:t>
            </a:r>
            <a:br/>
            <a:r>
              <a:t>• 📦 Move to Backlog: Admin, Value Stream PMO, Value Stream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32/34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Getting Started —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0F172A"/>
                </a:solidFill>
              </a:defRPr>
            </a:pPr>
            <a:r>
              <a:t>1️⃣ RAISE A DEMAND: 📥 Demand → + Raise Demand</a:t>
            </a:r>
            <a:br/>
            <a:r>
              <a:t>  → Select Value Stream (determines workflow)</a:t>
            </a:r>
            <a:br/>
            <a:br/>
            <a:r>
              <a:t>2️⃣ ADVANCE WORKFLOW: Click Change Status on a demand</a:t>
            </a:r>
            <a:br/>
            <a:r>
              <a:t>  → Last step (Approved) creates a Requirement</a:t>
            </a:r>
            <a:br/>
            <a:br/>
            <a:r>
              <a:t>3️⃣ CREATE A PROJECT: 📁 Projects → + New Project</a:t>
            </a:r>
            <a:br/>
            <a:r>
              <a:t>  → Assign a Governance Template if needed</a:t>
            </a:r>
            <a:br/>
            <a:br/>
            <a:r>
              <a:t>4️⃣ MANAGE EPICS &amp; STORIES: Break down requirements</a:t>
            </a:r>
            <a:br/>
            <a:r>
              <a:t>  → Assign resources to epics (determines Sprint Board teams)</a:t>
            </a:r>
            <a:br/>
            <a:br/>
            <a:r>
              <a:t>5️⃣ GOVERNANCE CHECKLIST: ✅ Governance</a:t>
            </a:r>
            <a:br/>
            <a:r>
              <a:t>  → Generate Items or edit items individually</a:t>
            </a:r>
            <a:br/>
            <a:br/>
            <a:r>
              <a:t>6️⃣ CREATE A RELEASE: 🚀 Releases → + New Release</a:t>
            </a:r>
            <a:br/>
            <a:r>
              <a:t>  → Register stories, sign off when ready</a:t>
            </a:r>
            <a:br/>
            <a:br/>
            <a:r>
              <a:t>7️⃣ VIEW SPRINTS: 📋 Sprint Board for Team×Product grid</a:t>
            </a:r>
            <a:br/>
            <a:r>
              <a:t>  → Toggle 'Active only' as needed</a:t>
            </a:r>
            <a:br/>
            <a:br/>
            <a:r>
              <a:t>8️⃣ CHECK PORTFOLIO: 📈 Portfolio for holistic VS view</a:t>
            </a:r>
            <a:br/>
            <a:br/>
            <a:r>
              <a:t>9️⃣ LOCK PROJECT: 📁 Projects → 🔒 Lock button</a:t>
            </a:r>
            <a:br/>
            <a:r>
              <a:t>  → Admin/VSPMO/VSO only</a:t>
            </a:r>
            <a:br/>
            <a:br/>
            <a:r>
              <a:t>🔟 UNLINK REQUIREMENT: 📋 Requirements → 📦 Backlog</a:t>
            </a:r>
            <a:br/>
            <a:r>
              <a:t>  → Moves item back to backlog pool</a:t>
            </a:r>
            <a:br/>
            <a:br/>
            <a:r>
              <a:t>👤 SWITCH ROLE: Use role dropdown in header (DEV mode)</a:t>
            </a:r>
            <a:br/>
            <a:r>
              <a:t>🔄 RESET DATA: Click 🔄 Reset in header to clear all seed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33/34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C7D2FE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800">
                <a:solidFill>
                  <a:srgbClr val="0F172A"/>
                </a:solidFill>
              </a:defRPr>
            </a:pPr>
            <a:r>
              <a:t>Key Concepts to Remember:</a:t>
            </a:r>
            <a:br/>
            <a:r>
              <a:t>• Workflows are CONFIGURABLE — edit in ⚙️ Config, no code changes</a:t>
            </a:r>
            <a:br/>
            <a:r>
              <a:t>• Roles determine WHAT you see and WHAT you can do</a:t>
            </a:r>
            <a:br/>
            <a:r>
              <a:t>• Dashboard shows only YOUR actionable items</a:t>
            </a:r>
            <a:br/>
            <a:r>
              <a:t>• Sprint Board shows team assignments via resource chain</a:t>
            </a:r>
            <a:br/>
            <a:r>
              <a:t>• Governance checklist is per-project with VS-specific templates</a:t>
            </a:r>
            <a:br/>
            <a:r>
              <a:t>• Demand → Requirement conversion happens on Approved status</a:t>
            </a:r>
            <a:br/>
            <a:r>
              <a:t>• Lock/Unlock is restricted to Admin/VSPMO/VSO roles</a:t>
            </a:r>
            <a:br/>
            <a:r>
              <a:t>• Unlink works even on locked projects (for descoping)</a:t>
            </a:r>
            <a:br/>
            <a:br/>
            <a:r>
              <a:t>Questions? Contact your system administrator.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34/34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